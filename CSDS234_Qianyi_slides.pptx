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2" d="100"/>
          <a:sy n="162" d="100"/>
        </p:scale>
        <p:origin x="39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121002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7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0" y="-365760"/>
            <a:ext cx="4114800" cy="548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0" b="1" dirty="0">
                <a:solidFill>
                  <a:srgbClr val="C8943B">
                    <a:alpha val="22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36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600" dirty="0">
                <a:solidFill>
                  <a:srgbClr val="E8C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CSDS 234  ·  FINAL PROJECT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23444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But Why?</a:t>
            </a:r>
            <a:endParaRPr lang="en-US" sz="8000" dirty="0"/>
          </a:p>
        </p:txBody>
      </p:sp>
      <p:sp>
        <p:nvSpPr>
          <p:cNvPr id="6" name="Shape 4"/>
          <p:cNvSpPr/>
          <p:nvPr/>
        </p:nvSpPr>
        <p:spPr>
          <a:xfrm>
            <a:off x="658368" y="2697480"/>
            <a:ext cx="1463040" cy="36576"/>
          </a:xfrm>
          <a:prstGeom prst="rect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28346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2200" i="1" dirty="0">
                <a:solidFill>
                  <a:srgbClr val="E8C7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and Query Provenance for</a:t>
            </a:r>
            <a:endParaRPr lang="en-US" sz="22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2200" i="1" dirty="0">
                <a:solidFill>
                  <a:srgbClr val="E8C7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Explainable Movie Recommendations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4160520"/>
            <a:ext cx="6400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Qianyi (Alfred) Chen</a:t>
            </a:r>
            <a:endParaRPr lang="en-US" sz="16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BFC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 ·  Prof. Yinghui Wu  ·  Case Western Reserve University</a:t>
            </a:r>
            <a:endParaRPr lang="en-US" sz="1600" dirty="0"/>
          </a:p>
          <a:p>
            <a:pPr marL="0" indent="0" algn="l">
              <a:buNone/>
            </a:pPr>
            <a:r>
              <a:rPr lang="en-US" sz="1100" i="1" dirty="0">
                <a:solidFill>
                  <a:srgbClr val="E8C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F25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164592"/>
            <a:ext cx="9144000" cy="36576"/>
          </a:xfrm>
          <a:prstGeom prst="rect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29260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25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was this recommended?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48234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Why?  ·  CSDS 234  ·  2 / 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i="1" dirty="0">
                <a:solidFill>
                  <a:srgbClr val="0F25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Netflix recommends Fargo to Alfred. Why?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02920" y="141732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it his love for </a:t>
            </a:r>
            <a:r>
              <a:rPr lang="en-US" sz="1300" b="1" i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Pulp Fiction</a:t>
            </a: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  His rating of </a:t>
            </a:r>
            <a:r>
              <a:rPr lang="en-US" sz="1300" b="1" i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Shawshank</a:t>
            </a: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  Some pattern shared with strangers?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2920" y="2194560"/>
            <a:ext cx="548640" cy="548640"/>
          </a:xfrm>
          <a:prstGeom prst="ellipse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292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§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188720" y="219456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25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Regulation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88720" y="246888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 Art. 22 — users can demand meaningful information about automated decisions.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3035808"/>
            <a:ext cx="548640" cy="548640"/>
          </a:xfrm>
          <a:prstGeom prst="ellipse">
            <a:avLst/>
          </a:prstGeom>
          <a:solidFill>
            <a:srgbClr val="2E8B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02920" y="30358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♥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188720" y="303580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25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 trust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88720" y="3310128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recommendations build user confidence and reduce churn.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3877056"/>
            <a:ext cx="548640" cy="548640"/>
          </a:xfrm>
          <a:prstGeom prst="ellipse">
            <a:avLst/>
          </a:prstGeom>
          <a:solidFill>
            <a:srgbClr val="0F25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02920" y="38770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188720" y="3877056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25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Black-box CF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188720" y="4151376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models hide reasoning in 50-dim latent vectors — opaque by construction.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897880" y="960120"/>
            <a:ext cx="2834640" cy="3703320"/>
          </a:xfrm>
          <a:prstGeom prst="rect">
            <a:avLst/>
          </a:prstGeom>
          <a:solidFill>
            <a:srgbClr val="0F2557"/>
          </a:solidFill>
          <a:ln/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5897880" y="960120"/>
            <a:ext cx="2834640" cy="91440"/>
          </a:xfrm>
          <a:prstGeom prst="rect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080760" y="11887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600" dirty="0">
                <a:solidFill>
                  <a:srgbClr val="E8C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ANGLE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80760" y="1508760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Explain via the database.</a:t>
            </a:r>
            <a:endParaRPr lang="en-US" sz="2600" dirty="0"/>
          </a:p>
        </p:txBody>
      </p:sp>
      <p:sp>
        <p:nvSpPr>
          <p:cNvPr id="24" name="Shape 22"/>
          <p:cNvSpPr/>
          <p:nvPr/>
        </p:nvSpPr>
        <p:spPr>
          <a:xfrm>
            <a:off x="6080760" y="2926080"/>
            <a:ext cx="731520" cy="27432"/>
          </a:xfrm>
          <a:prstGeom prst="rect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080760" y="3063240"/>
            <a:ext cx="2468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100" dirty="0">
                <a:solidFill>
                  <a:srgbClr val="DDE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existing methods modify the model (hurting accuracy) or generate post-hoc text (may not be faithful).</a:t>
            </a:r>
            <a:endParaRPr lang="en-US" sz="1100" dirty="0"/>
          </a:p>
          <a:p>
            <a:pPr marL="0" indent="0" algn="l">
              <a:spcAft>
                <a:spcPts val="600"/>
              </a:spcAft>
              <a:buNone/>
            </a:pPr>
            <a:endParaRPr lang="en-US" sz="11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1100" dirty="0">
                <a:solidFill>
                  <a:srgbClr val="DDE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ground explanations in formal data provenance — fast, faithful, no model changes.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F25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164592"/>
            <a:ext cx="9144000" cy="36576"/>
          </a:xfrm>
          <a:prstGeom prst="rect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29260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25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query classes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48234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Why?  ·  CSDS 234  ·  3 / 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general — defined for any user, any movie, any k ∈ [1, 20].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4023360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2C2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02920" y="1371600"/>
            <a:ext cx="4023360" cy="109728"/>
          </a:xfrm>
          <a:prstGeom prst="rect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77240" y="1627632"/>
            <a:ext cx="502920" cy="274320"/>
          </a:xfrm>
          <a:prstGeom prst="rect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77240" y="162763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371600" y="16002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25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Why-Provenance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77240" y="20116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“Which ratings caused this recommendation?”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77240" y="2432304"/>
            <a:ext cx="3474720" cy="18288"/>
          </a:xfrm>
          <a:prstGeom prst="rect">
            <a:avLst/>
          </a:prstGeom>
          <a:solidFill>
            <a:srgbClr val="D9D2C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77240" y="2542032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400" dirty="0">
                <a:solidFill>
                  <a:srgbClr val="C89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7240" y="274320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u, movie m ∈ TopK(u, k)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7240" y="3218688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400" dirty="0">
                <a:solidFill>
                  <a:srgbClr val="C89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77240" y="341985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W ⊆ ratings(m)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such that m ∉ TopK_{R∖W}(u, k)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77240" y="3895344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400" dirty="0">
                <a:solidFill>
                  <a:srgbClr val="C89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77240" y="409651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smallest evidence set whose removal flips the recommendation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17720" y="1371600"/>
            <a:ext cx="4023360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2C2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617720" y="1371600"/>
            <a:ext cx="4023360" cy="109728"/>
          </a:xfrm>
          <a:prstGeom prst="rect">
            <a:avLst/>
          </a:prstGeom>
          <a:solidFill>
            <a:srgbClr val="2E8B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892040" y="1627632"/>
            <a:ext cx="502920" cy="274320"/>
          </a:xfrm>
          <a:prstGeom prst="rect">
            <a:avLst/>
          </a:prstGeom>
          <a:solidFill>
            <a:srgbClr val="2E8B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892040" y="162763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0" y="16002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25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Query Rewrite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4892040" y="20116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“What change would surface this missing movie?”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892040" y="2432304"/>
            <a:ext cx="3474720" cy="18288"/>
          </a:xfrm>
          <a:prstGeom prst="rect">
            <a:avLst/>
          </a:prstGeom>
          <a:solidFill>
            <a:srgbClr val="D9D2C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892040" y="2542032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400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892040" y="274320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u, target movie t ∉ TopK(u, k)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892040" y="3218688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400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892040" y="341985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edit e (single rating add)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such that t ∈ TopK_{R∪{e}}(u, k)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892040" y="3895344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400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892040" y="409651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counterfactual nudge that surfaces a desired movie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F25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164592"/>
            <a:ext cx="9144000" cy="36576"/>
          </a:xfrm>
          <a:prstGeom prst="rect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29260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25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Inverted index for pruning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48234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Why?  ·  CSDS 234  ·  4 / 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9144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600" dirty="0">
                <a:solidFill>
                  <a:srgbClr val="C89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20" y="1188720"/>
            <a:ext cx="5212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i="1" dirty="0">
                <a:solidFill>
                  <a:srgbClr val="0F25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movie's predicted score is</a:t>
            </a:r>
            <a:endParaRPr lang="en-US" sz="2000" dirty="0"/>
          </a:p>
          <a:p>
            <a:pPr marL="0" indent="0" algn="l">
              <a:buNone/>
            </a:pPr>
            <a:r>
              <a:rPr lang="en-US" sz="2000" b="1" i="1" dirty="0">
                <a:solidFill>
                  <a:srgbClr val="0F25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dominated by its strongest raters.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02920" y="228600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they don't move the needle, the long tail won't either. So we precompute, for each movie, the top-C = 50 highest-rating contributors.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3017520"/>
            <a:ext cx="233172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02920" y="310896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SEARCH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02920" y="338328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O(|R|)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502920" y="39319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every rater of m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834640" y="3017520"/>
            <a:ext cx="457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C89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246120" y="3017520"/>
            <a:ext cx="2331720" cy="1371600"/>
          </a:xfrm>
          <a:prstGeom prst="rect">
            <a:avLst/>
          </a:prstGeom>
          <a:solidFill>
            <a:srgbClr val="0F2557"/>
          </a:solidFill>
          <a:ln/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246120" y="3017520"/>
            <a:ext cx="2331720" cy="73152"/>
          </a:xfrm>
          <a:prstGeom prst="rect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246120" y="3182112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400" dirty="0">
                <a:solidFill>
                  <a:srgbClr val="E8C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INDEX-PRUNED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246120" y="342900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O(C)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3246120" y="39776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E8C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= 50, fixed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89320" y="914400"/>
            <a:ext cx="274320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2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989320" y="914400"/>
            <a:ext cx="73152" cy="1097280"/>
          </a:xfrm>
          <a:prstGeom prst="rect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153912" y="1005840"/>
            <a:ext cx="2514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25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0.16 s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6153912" y="1594714"/>
            <a:ext cx="2514600" cy="351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 INDEX BUILD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89320" y="2121408"/>
            <a:ext cx="274320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2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5989320" y="2121408"/>
            <a:ext cx="73152" cy="1097280"/>
          </a:xfrm>
          <a:prstGeom prst="rect">
            <a:avLst/>
          </a:prstGeom>
          <a:solidFill>
            <a:srgbClr val="2E8B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153912" y="2212848"/>
            <a:ext cx="2514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25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46,435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6153912" y="2801722"/>
            <a:ext cx="2514600" cy="351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ENTRIES (28/MOVIE)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989320" y="3328416"/>
            <a:ext cx="274320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2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5989320" y="3328416"/>
            <a:ext cx="73152" cy="1097280"/>
          </a:xfrm>
          <a:prstGeom prst="rect">
            <a:avLst/>
          </a:prstGeom>
          <a:solidFill>
            <a:srgbClr val="0F25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153912" y="3419856"/>
            <a:ext cx="2514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25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&lt; raw table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6153912" y="4008730"/>
            <a:ext cx="2514600" cy="351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FOOTPRINT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F25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164592"/>
            <a:ext cx="9144000" cy="36576"/>
          </a:xfrm>
          <a:prstGeom prst="rect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29260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25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WhyProv algorithm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48234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Why?  ·  CSDS 234  ·  5 / 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914400"/>
            <a:ext cx="5486400" cy="3749040"/>
          </a:xfrm>
          <a:prstGeom prst="rect">
            <a:avLst/>
          </a:prstGeom>
          <a:solidFill>
            <a:srgbClr val="081735"/>
          </a:solidFill>
          <a:ln/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02920" y="914400"/>
            <a:ext cx="91440" cy="3749040"/>
          </a:xfrm>
          <a:prstGeom prst="rect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" y="10058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8C7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ALGORITHM   WhyProv(u, m, k, index I)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1353312"/>
            <a:ext cx="5120640" cy="18288"/>
          </a:xfrm>
          <a:prstGeom prst="rect">
            <a:avLst/>
          </a:prstGeom>
          <a:solidFill>
            <a:srgbClr val="C8943B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77240" y="1481328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dirty="0">
                <a:solidFill>
                  <a:srgbClr val="E8EE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 contributors  ←  I.lookup(m)            # O(C) lookup</a:t>
            </a:r>
            <a:endParaRPr lang="en-US" sz="11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100" dirty="0">
                <a:solidFill>
                  <a:srgbClr val="E8EE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 removed ← {} ;  witness ← []</a:t>
            </a:r>
            <a:endParaRPr lang="en-US" sz="11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100" dirty="0">
                <a:solidFill>
                  <a:srgbClr val="E8EE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 FOR each (c, w) in contributors sorted by w DESC:</a:t>
            </a:r>
            <a:endParaRPr lang="en-US" sz="11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100" dirty="0">
                <a:solidFill>
                  <a:srgbClr val="E8EE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     removed ← removed ∪ {c}</a:t>
            </a:r>
            <a:endParaRPr lang="en-US" sz="11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100" dirty="0">
                <a:solidFill>
                  <a:srgbClr val="E8EE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      witness.append((c, m))</a:t>
            </a:r>
            <a:endParaRPr lang="en-US" sz="11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100" dirty="0">
                <a:solidFill>
                  <a:srgbClr val="E8EE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      score_m ← ScoreDecayApprox(u, m, removed)</a:t>
            </a:r>
            <a:endParaRPr lang="en-US" sz="11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100" dirty="0">
                <a:solidFill>
                  <a:srgbClr val="E8EE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      threshold ← Predict(u, TopK(u, k)[k−1])</a:t>
            </a:r>
            <a:endParaRPr lang="en-US" sz="11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100" dirty="0">
                <a:solidFill>
                  <a:srgbClr val="E8EE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8.      IF score_m &lt; threshold:</a:t>
            </a:r>
            <a:endParaRPr lang="en-US" sz="11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100" dirty="0">
                <a:solidFill>
                  <a:srgbClr val="E8C7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9.          RETURN witness                  # minimal!</a:t>
            </a:r>
            <a:endParaRPr lang="en-US" sz="11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100" dirty="0">
                <a:solidFill>
                  <a:srgbClr val="E8C7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10. RETURN witness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72200" y="914400"/>
            <a:ext cx="2560320" cy="37490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2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172200" y="914400"/>
            <a:ext cx="2560320" cy="91440"/>
          </a:xfrm>
          <a:prstGeom prst="rect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309360" y="1078992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400" dirty="0">
                <a:solidFill>
                  <a:srgbClr val="C89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SCORE-DECAY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309360" y="129844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25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Approximation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309360" y="1755648"/>
            <a:ext cx="2286000" cy="502920"/>
          </a:xfrm>
          <a:prstGeom prst="rect">
            <a:avLst/>
          </a:prstGeom>
          <a:solidFill>
            <a:srgbClr val="F7F4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309360" y="17556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25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score' = score · (1 − w_rm / w_total)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09360" y="237744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F2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retrain SVD per query?</a:t>
            </a:r>
            <a:endParaRPr lang="en-US" sz="105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would dominate runtime — seconds per query.</a:t>
            </a:r>
            <a:endParaRPr lang="en-US" sz="105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F2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this OK?</a:t>
            </a:r>
            <a:endParaRPr lang="en-US" sz="105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 membership is a </a:t>
            </a:r>
            <a:r>
              <a:rPr lang="en-US" sz="1050" b="1" i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decision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not a numeric one. Score-decay is rank-monotonic — sufficient.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F25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164592"/>
            <a:ext cx="9144000" cy="36576"/>
          </a:xfrm>
          <a:prstGeom prst="rect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29260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25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 1  ·  1.77× speedup at k = 10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48234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Why?  ·  CSDS 234  ·  6 / 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5349240" cy="37490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2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7" name="Image 0" descr="/Users/alfred/Desktop/CSDS 234 Final Project/results/runtime_comparison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4360" y="1051560"/>
            <a:ext cx="5074920" cy="34290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4572000"/>
            <a:ext cx="5349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distribution across 60 (user, movie) pairs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989320" y="914400"/>
            <a:ext cx="274320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2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5989320" y="914400"/>
            <a:ext cx="73152" cy="960120"/>
          </a:xfrm>
          <a:prstGeom prst="rect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153912" y="1005840"/>
            <a:ext cx="2514600" cy="5280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25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49 ms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6153912" y="1509674"/>
            <a:ext cx="2514600" cy="307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— INDEX-PRUNED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989320" y="1965960"/>
            <a:ext cx="274320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2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5989320" y="1965960"/>
            <a:ext cx="73152" cy="960120"/>
          </a:xfrm>
          <a:prstGeom prst="rect">
            <a:avLst/>
          </a:prstGeom>
          <a:solidFill>
            <a:srgbClr val="6B72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153912" y="2057400"/>
            <a:ext cx="2514600" cy="5280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25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95 ms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6153912" y="2561234"/>
            <a:ext cx="2514600" cy="307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— NAIVE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989320" y="3017520"/>
            <a:ext cx="274320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2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5989320" y="3017520"/>
            <a:ext cx="73152" cy="960120"/>
          </a:xfrm>
          <a:prstGeom prst="rect">
            <a:avLst/>
          </a:prstGeom>
          <a:solidFill>
            <a:srgbClr val="2E8B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153912" y="3108960"/>
            <a:ext cx="2514600" cy="5280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25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1.77×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6153912" y="3612794"/>
            <a:ext cx="2514600" cy="307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989320" y="4114800"/>
            <a:ext cx="2743200" cy="502920"/>
          </a:xfrm>
          <a:prstGeom prst="rect">
            <a:avLst/>
          </a:prstGeom>
          <a:solidFill>
            <a:srgbClr val="0F25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5989320" y="41148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0 / 60 pairs does naive beat the index.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F25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164592"/>
            <a:ext cx="9144000" cy="36576"/>
          </a:xfrm>
          <a:prstGeom prst="rect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29260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25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 2  ·  Speedup grows with k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48234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Why?  ·  CSDS 234  ·  7 / 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5074920" cy="37490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2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7" name="Image 0" descr="/Users/alfred/Desktop/CSDS 234 Final Project/results/runtime_vs_k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66928" y="1051560"/>
            <a:ext cx="4846320" cy="35204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715000" y="914400"/>
            <a:ext cx="3017520" cy="23774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2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5715000" y="914400"/>
            <a:ext cx="3017520" cy="91440"/>
          </a:xfrm>
          <a:prstGeom prst="rect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06440" y="1188720"/>
          <a:ext cx="2834640" cy="1645920"/>
        </p:xfrm>
        <a:graphic>
          <a:graphicData uri="http://schemas.openxmlformats.org/drawingml/2006/table">
            <a:tbl>
              <a:tblPr/>
              <a:tblGrid>
                <a:gridCol w="3840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89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589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326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F2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F2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F2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F2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89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1.50×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89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1.94×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89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2.45×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5715000" y="3474720"/>
            <a:ext cx="3017520" cy="1188720"/>
          </a:xfrm>
          <a:prstGeom prst="rect">
            <a:avLst/>
          </a:prstGeom>
          <a:solidFill>
            <a:srgbClr val="0F2557"/>
          </a:solidFill>
          <a:ln/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5715000" y="3474720"/>
            <a:ext cx="91440" cy="1188720"/>
          </a:xfrm>
          <a:prstGeom prst="rect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5897880" y="3584448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500" dirty="0">
                <a:solidFill>
                  <a:srgbClr val="E8C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5897880" y="37947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 grows monotonically with k. Larger k means more naive scan work — bigger pruning win.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F25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164592"/>
            <a:ext cx="9144000" cy="36576"/>
          </a:xfrm>
          <a:prstGeom prst="rect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29260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25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 3  ·  Speedup vs movie popularity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48234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Why?  ·  CSDS 234  ·  8 / 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5074920" cy="37490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2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7" name="Image 0" descr="/Users/alfred/Desktop/CSDS 234 Final Project/results/speedup_by_popularity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66928" y="1051560"/>
            <a:ext cx="4846320" cy="35204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715000" y="914400"/>
            <a:ext cx="3017520" cy="1371600"/>
          </a:xfrm>
          <a:prstGeom prst="rect">
            <a:avLst/>
          </a:prstGeom>
          <a:solidFill>
            <a:srgbClr val="0F2557"/>
          </a:solidFill>
          <a:ln/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5715000" y="914400"/>
            <a:ext cx="3017520" cy="91440"/>
          </a:xfrm>
          <a:prstGeom prst="rect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5852160" y="1078992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E8C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· 51+ RATERS · n=57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852160" y="1371600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1.79×</a:t>
            </a:r>
            <a:endParaRPr lang="en-US" sz="4400" dirty="0"/>
          </a:p>
        </p:txBody>
      </p:sp>
      <p:sp>
        <p:nvSpPr>
          <p:cNvPr id="12" name="Shape 9"/>
          <p:cNvSpPr/>
          <p:nvPr/>
        </p:nvSpPr>
        <p:spPr>
          <a:xfrm>
            <a:off x="5715000" y="2423160"/>
            <a:ext cx="301752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2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5715000" y="2423160"/>
            <a:ext cx="91440" cy="1371600"/>
          </a:xfrm>
          <a:prstGeom prst="rect">
            <a:avLst/>
          </a:prstGeom>
          <a:solidFill>
            <a:srgbClr val="2E8B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5897880" y="2587752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· 21–50 RATERS · n=3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897880" y="288036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0F25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1.38×</a:t>
            </a:r>
            <a:endParaRPr lang="en-US" sz="4400" dirty="0"/>
          </a:p>
        </p:txBody>
      </p:sp>
      <p:sp>
        <p:nvSpPr>
          <p:cNvPr id="16" name="Shape 13"/>
          <p:cNvSpPr/>
          <p:nvPr/>
        </p:nvSpPr>
        <p:spPr>
          <a:xfrm>
            <a:off x="5715000" y="3931920"/>
            <a:ext cx="3017520" cy="731520"/>
          </a:xfrm>
          <a:prstGeom prst="rect">
            <a:avLst/>
          </a:prstGeom>
          <a:solidFill>
            <a:srgbClr val="F7F4ED"/>
          </a:solidFill>
          <a:ln w="6350">
            <a:solidFill>
              <a:srgbClr val="D9D2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5852160" y="393192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movies have a long rater tail to prune — the index pays off most there.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F25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164592"/>
            <a:ext cx="9144000" cy="36576"/>
          </a:xfrm>
          <a:prstGeom prst="rect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29260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25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  ·  Future work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48234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Why?  ·  CSDS 234  ·  9 / 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914400"/>
            <a:ext cx="4023360" cy="37490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2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02920" y="914400"/>
            <a:ext cx="4023360" cy="109728"/>
          </a:xfrm>
          <a:prstGeom prst="rect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" y="109728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00" dirty="0">
                <a:solidFill>
                  <a:srgbClr val="C89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ACKNOWLEDGED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77240" y="13258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F25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777240" y="1828800"/>
            <a:ext cx="548640" cy="27432"/>
          </a:xfrm>
          <a:prstGeom prst="rect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777240" y="2084832"/>
            <a:ext cx="118872" cy="118872"/>
          </a:xfrm>
          <a:prstGeom prst="ellipse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005840" y="199339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F2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Score-decay approximation</a:t>
            </a:r>
            <a:r>
              <a:rPr lang="en-US" sz="1100" b="1" dirty="0">
                <a:solidFill>
                  <a:srgbClr val="C89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rank-monotonic, not the true counterfactual SVD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77240" y="2587752"/>
            <a:ext cx="118872" cy="118872"/>
          </a:xfrm>
          <a:prstGeom prst="ellipse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005840" y="249631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F2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Single-edit query rewrite</a:t>
            </a:r>
            <a:r>
              <a:rPr lang="en-US" sz="1100" b="1" dirty="0">
                <a:solidFill>
                  <a:srgbClr val="C89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extending to multi-edit raises minimality search cost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77240" y="3090672"/>
            <a:ext cx="118872" cy="118872"/>
          </a:xfrm>
          <a:prstGeom prst="ellipse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005840" y="299923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F2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Popularity-biased sampling</a:t>
            </a:r>
            <a:r>
              <a:rPr lang="en-US" sz="1100" b="1" dirty="0">
                <a:solidFill>
                  <a:srgbClr val="C89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cold movies in our 60 pairs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77240" y="3593592"/>
            <a:ext cx="118872" cy="118872"/>
          </a:xfrm>
          <a:prstGeom prst="ellipse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005840" y="350215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F2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dataset</a:t>
            </a:r>
            <a:r>
              <a:rPr lang="en-US" sz="1100" b="1" dirty="0">
                <a:solidFill>
                  <a:srgbClr val="C89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MovieLens 100K only — no scale validation yet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17720" y="914400"/>
            <a:ext cx="4023360" cy="37490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2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617720" y="914400"/>
            <a:ext cx="4023360" cy="109728"/>
          </a:xfrm>
          <a:prstGeom prst="rect">
            <a:avLst/>
          </a:prstGeom>
          <a:solidFill>
            <a:srgbClr val="2E8B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892040" y="109728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00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13258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F25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Future work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4892040" y="1828800"/>
            <a:ext cx="548640" cy="27432"/>
          </a:xfrm>
          <a:prstGeom prst="rect">
            <a:avLst/>
          </a:prstGeom>
          <a:solidFill>
            <a:srgbClr val="2E8B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892040" y="2084832"/>
            <a:ext cx="118872" cy="118872"/>
          </a:xfrm>
          <a:prstGeom prst="ellipse">
            <a:avLst/>
          </a:prstGeom>
          <a:solidFill>
            <a:srgbClr val="2E8B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120640" y="199339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F2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score-decay</a:t>
            </a:r>
            <a:r>
              <a:rPr lang="en-US" sz="11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vs. true counterfactual SVD on a small sample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892040" y="2587752"/>
            <a:ext cx="118872" cy="118872"/>
          </a:xfrm>
          <a:prstGeom prst="ellipse">
            <a:avLst/>
          </a:prstGeom>
          <a:solidFill>
            <a:srgbClr val="2E8B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120640" y="249631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F2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Multi-hop provenance</a:t>
            </a:r>
            <a:r>
              <a:rPr lang="en-US" sz="11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explainers — recursive why-queries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892040" y="3090672"/>
            <a:ext cx="118872" cy="118872"/>
          </a:xfrm>
          <a:prstGeom prst="ellipse">
            <a:avLst/>
          </a:prstGeom>
          <a:solidFill>
            <a:srgbClr val="2E8B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120640" y="299923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F2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up</a:t>
            </a:r>
            <a:r>
              <a:rPr lang="en-US" sz="11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MovieLens 1M and 25M; measure index build &amp; query time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892040" y="3593592"/>
            <a:ext cx="118872" cy="118872"/>
          </a:xfrm>
          <a:prstGeom prst="ellipse">
            <a:avLst/>
          </a:prstGeom>
          <a:solidFill>
            <a:srgbClr val="2E8B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120640" y="350215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F2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study</a:t>
            </a:r>
            <a:r>
              <a:rPr lang="en-US" sz="11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why-provenance explanations more trusted?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892040" y="4096512"/>
            <a:ext cx="118872" cy="118872"/>
          </a:xfrm>
          <a:prstGeom prst="ellipse">
            <a:avLst/>
          </a:prstGeom>
          <a:solidFill>
            <a:srgbClr val="2E8B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120640" y="400507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F2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models</a:t>
            </a:r>
            <a:r>
              <a:rPr lang="en-US" sz="11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to SASRec / BERT4Rec recommenders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17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600" dirty="0">
                <a:solidFill>
                  <a:srgbClr val="E8C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82296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Database provenance, applied.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02920" y="162763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i="1" dirty="0">
                <a:solidFill>
                  <a:srgbClr val="E8C7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formal, faithful, and fast way to explain CF recommendations.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0040" y="2377440"/>
            <a:ext cx="1627632" cy="1417320"/>
          </a:xfrm>
          <a:prstGeom prst="rect">
            <a:avLst/>
          </a:prstGeom>
          <a:solidFill>
            <a:srgbClr val="FFFFFF">
              <a:alpha val="8000"/>
            </a:srgbClr>
          </a:solidFill>
          <a:ln w="6350">
            <a:solidFill>
              <a:srgbClr val="C894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20040" y="2377440"/>
            <a:ext cx="1627632" cy="54864"/>
          </a:xfrm>
          <a:prstGeom prst="rect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20040" y="2578608"/>
            <a:ext cx="1627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1.77×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3310128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kern="0" spc="300" dirty="0">
                <a:solidFill>
                  <a:srgbClr val="E8C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 @ k = 10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039112" y="2377440"/>
            <a:ext cx="1627632" cy="1417320"/>
          </a:xfrm>
          <a:prstGeom prst="rect">
            <a:avLst/>
          </a:prstGeom>
          <a:solidFill>
            <a:srgbClr val="FFFFFF">
              <a:alpha val="8000"/>
            </a:srgbClr>
          </a:solidFill>
          <a:ln w="6350">
            <a:solidFill>
              <a:srgbClr val="C894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039112" y="2377440"/>
            <a:ext cx="1627632" cy="54864"/>
          </a:xfrm>
          <a:prstGeom prst="rect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039112" y="2578608"/>
            <a:ext cx="1627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2.45×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2039112" y="3310128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kern="0" spc="300" dirty="0">
                <a:solidFill>
                  <a:srgbClr val="E8C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 @ k = 20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758184" y="2377440"/>
            <a:ext cx="1627632" cy="1417320"/>
          </a:xfrm>
          <a:prstGeom prst="rect">
            <a:avLst/>
          </a:prstGeom>
          <a:solidFill>
            <a:srgbClr val="FFFFFF">
              <a:alpha val="8000"/>
            </a:srgbClr>
          </a:solidFill>
          <a:ln w="6350">
            <a:solidFill>
              <a:srgbClr val="2E8B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758184" y="2377440"/>
            <a:ext cx="1627632" cy="54864"/>
          </a:xfrm>
          <a:prstGeom prst="rect">
            <a:avLst/>
          </a:prstGeom>
          <a:solidFill>
            <a:srgbClr val="2E8B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758184" y="2578608"/>
            <a:ext cx="1627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0.16 s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3758184" y="3310128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kern="0" spc="300" dirty="0">
                <a:solidFill>
                  <a:srgbClr val="8FB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BUILD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477256" y="2377440"/>
            <a:ext cx="1627632" cy="1417320"/>
          </a:xfrm>
          <a:prstGeom prst="rect">
            <a:avLst/>
          </a:prstGeom>
          <a:solidFill>
            <a:srgbClr val="FFFFFF">
              <a:alpha val="8000"/>
            </a:srgbClr>
          </a:solidFill>
          <a:ln w="6350">
            <a:solidFill>
              <a:srgbClr val="2E8B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477256" y="2377440"/>
            <a:ext cx="1627632" cy="54864"/>
          </a:xfrm>
          <a:prstGeom prst="rect">
            <a:avLst/>
          </a:prstGeom>
          <a:solidFill>
            <a:srgbClr val="2E8B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477256" y="2578608"/>
            <a:ext cx="1627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5477256" y="3310128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kern="0" spc="300" dirty="0">
                <a:solidFill>
                  <a:srgbClr val="8FB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PAIRS TESTED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196328" y="2377440"/>
            <a:ext cx="1627632" cy="1417320"/>
          </a:xfrm>
          <a:prstGeom prst="rect">
            <a:avLst/>
          </a:prstGeom>
          <a:solidFill>
            <a:srgbClr val="FFFFFF">
              <a:alpha val="8000"/>
            </a:srgbClr>
          </a:solidFill>
          <a:ln w="6350">
            <a:solidFill>
              <a:srgbClr val="C894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7196328" y="2377440"/>
            <a:ext cx="1627632" cy="54864"/>
          </a:xfrm>
          <a:prstGeom prst="rect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196328" y="2578608"/>
            <a:ext cx="1627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200" dirty="0"/>
          </a:p>
        </p:txBody>
      </p:sp>
      <p:sp>
        <p:nvSpPr>
          <p:cNvPr id="25" name="Text 23"/>
          <p:cNvSpPr/>
          <p:nvPr/>
        </p:nvSpPr>
        <p:spPr>
          <a:xfrm>
            <a:off x="7196328" y="3310128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kern="0" spc="300" dirty="0">
                <a:solidFill>
                  <a:srgbClr val="E8C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CHANGES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02920" y="4160520"/>
            <a:ext cx="8138160" cy="36576"/>
          </a:xfrm>
          <a:prstGeom prst="rect">
            <a:avLst/>
          </a:prstGeom>
          <a:solidFill>
            <a:srgbClr val="C8943B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02920" y="429768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you. Questions?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4114800" y="43708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E8C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&amp; report  ·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github.com/Alfred-Chen-04/csds234-final-project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02920" y="475488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200" dirty="0">
                <a:solidFill>
                  <a:srgbClr val="9AA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Qianyi (Alfred) Chen  ·  CSDS 234  ·  CWRU  ·  May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967</Words>
  <Application>Microsoft Macintosh PowerPoint</Application>
  <PresentationFormat>On-screen Show (16:9)</PresentationFormat>
  <Paragraphs>167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But Why? — CSDS 234 Final</dc:title>
  <dc:subject>Data and Query Provenance for Explainable Movie Recommendations</dc:subject>
  <dc:creator>Qianyi Chen</dc:creator>
  <cp:lastModifiedBy>Alfred Chen</cp:lastModifiedBy>
  <cp:revision>2</cp:revision>
  <dcterms:created xsi:type="dcterms:W3CDTF">2026-05-04T22:37:44Z</dcterms:created>
  <dcterms:modified xsi:type="dcterms:W3CDTF">2026-05-04T22:41:30Z</dcterms:modified>
</cp:coreProperties>
</file>