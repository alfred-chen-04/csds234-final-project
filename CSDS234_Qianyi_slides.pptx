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2100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7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0" y="-365760"/>
            <a:ext cx="411480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0" b="1" dirty="0">
                <a:solidFill>
                  <a:srgbClr val="C8943B">
                    <a:alpha val="22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6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CSDS 234  ·  FINAL PROJECT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Why?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658368" y="2697480"/>
            <a:ext cx="146304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and Query Provenance for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Movie Recommendations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Qianyi (Alfred) Chen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Western Reserve University</a:t>
            </a:r>
            <a:endParaRPr lang="en-US" sz="1600" dirty="0"/>
          </a:p>
          <a:p>
            <a:pPr marL="0" indent="0" algn="l">
              <a:buNone/>
            </a:pPr>
            <a:r>
              <a:rPr lang="en-US" sz="1100" i="1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was this recommended?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2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Netflix recommends Fargo to Alfred. Why?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56709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it his love for </a:t>
            </a:r>
            <a:r>
              <a:rPr lang="en-US" sz="130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Pulp Fiction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His rating of </a:t>
            </a:r>
            <a:r>
              <a:rPr lang="en-US" sz="130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Shawshank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Some pattern shared with strangers?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48640" cy="548640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§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Art. 22 — users can demand meaningful information about automated decisions.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035808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♥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31012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recommendations build user confidence and reduce churn.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877056"/>
            <a:ext cx="548640" cy="548640"/>
          </a:xfrm>
          <a:prstGeom prst="ellipse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877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Black-box CF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1513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models hide reasoning in 50-dim latent vectors — opaque by construction.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97880" y="960120"/>
            <a:ext cx="2834640" cy="370332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897880" y="960120"/>
            <a:ext cx="283464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80760" y="1188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ANGLE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80760" y="150876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via the database.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080760" y="2926080"/>
            <a:ext cx="731520" cy="2743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80760" y="306324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dirty="0">
                <a:solidFill>
                  <a:srgbClr val="DD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existing methods modify the model (hurting accuracy) or generate post-hoc text (may not be faithful).</a:t>
            </a:r>
            <a:endParaRPr lang="en-US" sz="1100" dirty="0"/>
          </a:p>
          <a:p>
            <a:pPr marL="0" indent="0" algn="l">
              <a:spcAft>
                <a:spcPts val="600"/>
              </a:spcAft>
              <a:buNone/>
            </a:pPr>
            <a:endParaRPr lang="en-US" sz="11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100" dirty="0">
                <a:solidFill>
                  <a:srgbClr val="DD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ground explanations in formal data provenance — fast, faithful, no model changes.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query classes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3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general — defined for any user, any movie, any k ∈ [1, 20].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402336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4023360" cy="109728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627632"/>
            <a:ext cx="502920" cy="2743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627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Why-Provenance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“Which ratings caused this recommendation?”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2432304"/>
            <a:ext cx="3474720" cy="18288"/>
          </a:xfrm>
          <a:prstGeom prst="rect">
            <a:avLst/>
          </a:prstGeom>
          <a:solidFill>
            <a:srgbClr val="D9D2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25420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u, movie m ∈ TopK(u, 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4198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W ⊆ ratings(m)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that m ∉ TopK_{R∖W}(u, 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389534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40965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smallest evidence set whose removal flips the recommendation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1371600"/>
            <a:ext cx="402336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17720" y="1371600"/>
            <a:ext cx="4023360" cy="109728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92040" y="1627632"/>
            <a:ext cx="502920" cy="27432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1627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 Rewrite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9204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“What change would surface this missing movie?”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92040" y="2432304"/>
            <a:ext cx="3474720" cy="18288"/>
          </a:xfrm>
          <a:prstGeom prst="rect">
            <a:avLst/>
          </a:prstGeom>
          <a:solidFill>
            <a:srgbClr val="D9D2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25420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92040" y="2743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u, target movie t ∉ TopK(u, k)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2186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92040" y="34198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edit e (single rating add)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that t ∈ TopK_{R∪{e}}(u, k)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389534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40965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counterfactual nudge that surfaces a desired movie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Inverted index for pruning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4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movie's predicted score is</a:t>
            </a:r>
            <a:endParaRPr lang="en-US" sz="2000" dirty="0"/>
          </a:p>
          <a:p>
            <a:pPr marL="0" indent="0" algn="l">
              <a:buNone/>
            </a:pPr>
            <a:r>
              <a:rPr lang="en-US" sz="2000" b="1" i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dominated by its strongest raters.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don't move the needle, the long tail won't either. So we precompute, for each movie, the top-C = 50 highest-rating contributors.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31089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SEARCH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O(|R|)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02920" y="3931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every rater of 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301752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89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246120" y="3017520"/>
            <a:ext cx="2331720" cy="137160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46120" y="3017520"/>
            <a:ext cx="2331720" cy="7315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46120" y="318211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INDEX-PRUNED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O(C)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246120" y="39776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50, fixed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89320" y="914400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89320" y="914400"/>
            <a:ext cx="73152" cy="109728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53912" y="1005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0.16 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153912" y="1594714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INDEX BUILD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89320" y="2121408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89320" y="2121408"/>
            <a:ext cx="73152" cy="109728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53912" y="221284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46,435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153912" y="2801722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ENTRIES (28/MOVIE)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9320" y="3328416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89320" y="3328416"/>
            <a:ext cx="73152" cy="1097280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53912" y="3419856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raw table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153912" y="4008730"/>
            <a:ext cx="251460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FOOTPRINT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WhyProv algorithm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486400" cy="3749040"/>
          </a:xfrm>
          <a:prstGeom prst="rect">
            <a:avLst/>
          </a:prstGeom>
          <a:solidFill>
            <a:srgbClr val="081735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914400"/>
            <a:ext cx="91440" cy="37490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  WhyProv(u, m, k, index I)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353312"/>
            <a:ext cx="5120640" cy="18288"/>
          </a:xfrm>
          <a:prstGeom prst="rect">
            <a:avLst/>
          </a:prstGeom>
          <a:solidFill>
            <a:srgbClr val="C8943B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contributors  ←  I.lookup(m)            # O(C) lookup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removed ← {} ;  witness ← []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FOR each (c, w) in contributors sorted by w DESC: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    removed ← removed ∪ {c}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    witness.append((c, m))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     score_m ← ScoreDecayApprox(u, m, removed)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     threshold ← Predict(u, TopK(u, k)[k−1])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EE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     IF score_m &lt; threshold: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         RETURN witness                  # minimal!</a:t>
            </a:r>
            <a:endParaRPr lang="en-US" sz="11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100" dirty="0">
                <a:solidFill>
                  <a:srgbClr val="E8C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RETURN witness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914400"/>
            <a:ext cx="25603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72200" y="914400"/>
            <a:ext cx="25603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0789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SCORE-DECAY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0" y="12984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Approximation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1755648"/>
            <a:ext cx="2286000" cy="502920"/>
          </a:xfrm>
          <a:prstGeom prst="rect">
            <a:avLst/>
          </a:prstGeom>
          <a:solidFill>
            <a:srgbClr val="F7F4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5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score' = score · (1 − w_rm / w_total)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237744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retrain SVD per query?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dominate runtime — seconds per query.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OK?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membership is a </a:t>
            </a:r>
            <a:r>
              <a:rPr lang="en-US" sz="1050" b="1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decision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numeric one. Score-decay is rank-monotonic — sufficient.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1  ·  1.77× speedup at k = 10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6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34924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runtime_comparis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051560"/>
            <a:ext cx="507492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57200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distribution across 60 (user, movie) pairs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989320" y="91440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989320" y="914400"/>
            <a:ext cx="73152" cy="9601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53912" y="100584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153912" y="150967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— INDEX-PRUNED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89320" y="196596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89320" y="1965960"/>
            <a:ext cx="73152" cy="96012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53912" y="205740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ms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153912" y="256123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— NAIVE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89320" y="301752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89320" y="3017520"/>
            <a:ext cx="73152" cy="96012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153912" y="3108960"/>
            <a:ext cx="2514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1.77×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153912" y="3612794"/>
            <a:ext cx="2514600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89320" y="4114800"/>
            <a:ext cx="2743200" cy="502920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98932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0 / 60 pairs does naive beat the index.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2  ·  Speedup grows with 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74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runtime_vs_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" y="1051560"/>
            <a:ext cx="4846320" cy="3520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15000" y="914400"/>
            <a:ext cx="301752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15000" y="914400"/>
            <a:ext cx="30175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188720"/>
          <a:ext cx="2834640" cy="16459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2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89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715000" y="3474720"/>
            <a:ext cx="3017520" cy="118872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715000" y="3474720"/>
            <a:ext cx="91440" cy="118872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897880" y="3584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5897880" y="37947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grows monotonically with k. Larger k means more naive scan work — bigger pruning win.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3  ·  Speedup vs movie popularity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749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alfred/Desktop/CSDS 234 Final Project/results/speedup_by_popular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" y="1051560"/>
            <a:ext cx="4846320" cy="3520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15000" y="914400"/>
            <a:ext cx="3017520" cy="1371600"/>
          </a:xfrm>
          <a:prstGeom prst="rect">
            <a:avLst/>
          </a:prstGeom>
          <a:solidFill>
            <a:srgbClr val="0F255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15000" y="914400"/>
            <a:ext cx="301752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85216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· 51+ RATERS · n=57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52160" y="13716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1.79×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5715000" y="2423160"/>
            <a:ext cx="30175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715000" y="2423160"/>
            <a:ext cx="91440" cy="1371600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897880" y="258775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21–50 RATERS · n=3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03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1.38×</a:t>
            </a:r>
            <a:endParaRPr lang="en-US" sz="4400" dirty="0"/>
          </a:p>
        </p:txBody>
      </p:sp>
      <p:sp>
        <p:nvSpPr>
          <p:cNvPr id="16" name="Shape 13"/>
          <p:cNvSpPr/>
          <p:nvPr/>
        </p:nvSpPr>
        <p:spPr>
          <a:xfrm>
            <a:off x="5715000" y="3931920"/>
            <a:ext cx="3017520" cy="731520"/>
          </a:xfrm>
          <a:prstGeom prst="rect">
            <a:avLst/>
          </a:prstGeom>
          <a:solidFill>
            <a:srgbClr val="F7F4ED"/>
          </a:solidFill>
          <a:ln w="6350">
            <a:solidFill>
              <a:srgbClr val="D9D2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852160" y="39319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movies have a long rater tail to prune — the index pays off most there.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2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9144000" cy="36576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 ·  Future 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Why?  ·  CSDS 234  ·  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914400"/>
            <a:ext cx="4023360" cy="109728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097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77240" y="1828800"/>
            <a:ext cx="548640" cy="27432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" y="208483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Score-decay approximation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rank-monotonic, not the true counterfactual SVD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58775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Single-edit query rewrite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to multi-edit raises minimality search cost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2999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Popularity-biased sampling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cold movies in our 60 pairs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593592"/>
            <a:ext cx="118872" cy="118872"/>
          </a:xfrm>
          <a:prstGeom prst="ellipse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5021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</a:t>
            </a:r>
            <a:r>
              <a:rPr lang="en-US" sz="1100" b="1" dirty="0">
                <a:solidFill>
                  <a:srgbClr val="C8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100K only — no scale validation yet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91440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17720" y="914400"/>
            <a:ext cx="4023360" cy="109728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10972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5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892040" y="1828800"/>
            <a:ext cx="548640" cy="27432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92040" y="208483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20640" y="199339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score-decay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vs. true counterfactual SVD on a small sample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58775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24963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provenance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explainers — recursive why-queries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309067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20640" y="299923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1M and 25M; measure index build &amp; query time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359359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20640" y="35021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study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why-provenance explanations more trusted?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2040" y="4096512"/>
            <a:ext cx="118872" cy="118872"/>
          </a:xfrm>
          <a:prstGeom prst="ellipse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20640" y="40050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2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models</a:t>
            </a:r>
            <a:r>
              <a:rPr lang="en-US" sz="11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SASRec / BERT4Rec recommenders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7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6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provenance, applied.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E8C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formal, faithful, and fast way to explain CF recommendations.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1.77×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@ k = 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39112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39112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39112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2.45×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39112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@ k = 20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58184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2E8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58184" y="2377440"/>
            <a:ext cx="1627632" cy="54864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58184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0.16 s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758184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8FB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BUILD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77256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2E8B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7256" y="2377440"/>
            <a:ext cx="1627632" cy="54864"/>
          </a:xfrm>
          <a:prstGeom prst="rect">
            <a:avLst/>
          </a:prstGeom>
          <a:solidFill>
            <a:srgbClr val="2E8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7256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77256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8FB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PAIRS TESTED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96328" y="2377440"/>
            <a:ext cx="1627632" cy="1417320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C894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96328" y="2377440"/>
            <a:ext cx="1627632" cy="54864"/>
          </a:xfrm>
          <a:prstGeom prst="rect">
            <a:avLst/>
          </a:prstGeom>
          <a:solidFill>
            <a:srgbClr val="C894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96328" y="2578608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196328" y="331012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CHANGES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4160520"/>
            <a:ext cx="8138160" cy="36576"/>
          </a:xfrm>
          <a:prstGeom prst="rect">
            <a:avLst/>
          </a:prstGeom>
          <a:solidFill>
            <a:srgbClr val="C8943B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297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114800" y="4370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8C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  ·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github.com/Alfred-Chen-04/csds234-final-project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754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200" dirty="0">
                <a:solidFill>
                  <a:srgbClr val="9A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Qianyi (Alfred) Chen  ·  CSDS 234  ·  CWRU  ·  May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</Words>
  <Application>Microsoft Macintosh PowerPoint</Application>
  <PresentationFormat>On-screen Show (16:9)</PresentationFormat>
  <Paragraphs>167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But Why? — CSDS 234 Final</dc:title>
  <dc:subject>Data and Query Provenance for Explainable Movie Recommendations</dc:subject>
  <dc:creator>Qianyi Chen</dc:creator>
  <cp:lastModifiedBy>Alfred Chen</cp:lastModifiedBy>
  <cp:revision>4</cp:revision>
  <dcterms:created xsi:type="dcterms:W3CDTF">2026-05-04T22:37:44Z</dcterms:created>
  <dcterms:modified xsi:type="dcterms:W3CDTF">2026-05-04T23:07:25Z</dcterms:modified>
</cp:coreProperties>
</file>