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But Why?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and Query Provenance for Explainable Movie Recommendations</a:t>
            </a:r>
            <a:br/>
            <a:br/>
            <a:r>
              <a:rPr/>
              <a:t>Qianyi Chen (Alfred) — Solo — CSDS 234 — Prof. Yinghui Wu — CWRU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was this recommended?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Netflix recommends </a:t>
            </a:r>
            <a:r>
              <a:rPr i="1"/>
              <a:t>Fargo</a:t>
            </a:r>
            <a:r>
              <a:rPr/>
              <a:t> to Alfred. Why? His love for </a:t>
            </a:r>
            <a:r>
              <a:rPr i="1"/>
              <a:t>Pulp Fiction</a:t>
            </a:r>
            <a:r>
              <a:rPr/>
              <a:t>? His rating of </a:t>
            </a:r>
            <a:r>
              <a:rPr i="1"/>
              <a:t>Shawshank</a:t>
            </a:r>
            <a:r>
              <a:rPr/>
              <a:t>? Some pattern shared with strangers?</a:t>
            </a:r>
          </a:p>
          <a:p>
            <a:pPr lvl="0"/>
            <a:r>
              <a:rPr b="1"/>
              <a:t>Regulatory pressure:</a:t>
            </a:r>
            <a:r>
              <a:rPr/>
              <a:t> GDPR Article 22 — users have the right to “meaningful information” about automated decisions.</a:t>
            </a:r>
          </a:p>
          <a:p>
            <a:pPr lvl="0"/>
            <a:r>
              <a:rPr b="1"/>
              <a:t>Product trust:</a:t>
            </a:r>
            <a:r>
              <a:rPr/>
              <a:t> explainable recommendations build user confidence.</a:t>
            </a:r>
          </a:p>
          <a:p>
            <a:pPr lvl="0"/>
            <a:r>
              <a:rPr b="1"/>
              <a:t>Today’s CF models</a:t>
            </a:r>
            <a:r>
              <a:rPr/>
              <a:t> (matrix factorization, SVD) hide their reasoning in 50-dim latent vectors — black-box by construction.</a:t>
            </a:r>
          </a:p>
          <a:p>
            <a:pPr lvl="0" indent="0" marL="0">
              <a:buNone/>
            </a:pPr>
            <a:r>
              <a:rPr/>
              <a:t>Most existing methods modify the model (hurting accuracy) or generate post-hoc text (may not be faithful).</a:t>
            </a:r>
          </a:p>
          <a:p>
            <a:pPr lvl="0" indent="0" marL="0">
              <a:buNone/>
            </a:pPr>
            <a:r>
              <a:rPr b="1"/>
              <a:t>Our angle:</a:t>
            </a:r>
            <a:r>
              <a:rPr/>
              <a:t> explain via the database, using formal data provenance.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query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Why-Provenance</a:t>
            </a:r>
          </a:p>
          <a:p>
            <a:pPr lvl="0"/>
            <a:r>
              <a:rPr/>
              <a:t>Input: user </a:t>
            </a:r>
            <a:r>
              <a:rPr>
                <a:latin typeface="Courier"/>
              </a:rPr>
              <a:t>u</a:t>
            </a:r>
            <a:r>
              <a:rPr/>
              <a:t>, movie </a:t>
            </a:r>
            <a:r>
              <a:rPr>
                <a:latin typeface="Courier"/>
              </a:rPr>
              <a:t>m</a:t>
            </a:r>
            <a:r>
              <a:rPr/>
              <a:t> in </a:t>
            </a:r>
            <a:r>
              <a:rPr>
                <a:latin typeface="Courier"/>
              </a:rPr>
              <a:t>TopK(u, k)</a:t>
            </a:r>
          </a:p>
          <a:p>
            <a:pPr lvl="0"/>
            <a:r>
              <a:rPr/>
              <a:t>Output: minimal </a:t>
            </a:r>
            <a:r>
              <a:rPr>
                <a:latin typeface="Courier"/>
              </a:rPr>
              <a:t>W</a:t>
            </a:r>
            <a:r>
              <a:rPr/>
              <a:t> such that removing </a:t>
            </a:r>
            <a:r>
              <a:rPr>
                <a:latin typeface="Courier"/>
              </a:rPr>
              <a:t>W</a:t>
            </a:r>
            <a:r>
              <a:rPr/>
              <a:t> drops </a:t>
            </a:r>
            <a:r>
              <a:rPr>
                <a:latin typeface="Courier"/>
              </a:rPr>
              <a:t>m</a:t>
            </a:r>
            <a:r>
              <a:rPr/>
              <a:t> out of top-k</a:t>
            </a:r>
          </a:p>
          <a:p>
            <a:pPr lvl="0"/>
            <a:r>
              <a:rPr i="1"/>
              <a:t>“Which ratings caused this recommendation?”</a:t>
            </a:r>
          </a:p>
          <a:p>
            <a:pPr lvl="0" indent="0" marL="0">
              <a:buNone/>
            </a:pPr>
            <a:r>
              <a:rPr b="1"/>
              <a:t>2. Query Rewrite</a:t>
            </a:r>
          </a:p>
          <a:p>
            <a:pPr lvl="0"/>
            <a:r>
              <a:rPr/>
              <a:t>Input: user </a:t>
            </a:r>
            <a:r>
              <a:rPr>
                <a:latin typeface="Courier"/>
              </a:rPr>
              <a:t>u</a:t>
            </a:r>
            <a:r>
              <a:rPr/>
              <a:t>, target movie </a:t>
            </a:r>
            <a:r>
              <a:rPr>
                <a:latin typeface="Courier"/>
              </a:rPr>
              <a:t>t</a:t>
            </a:r>
            <a:r>
              <a:rPr/>
              <a:t> not in </a:t>
            </a:r>
            <a:r>
              <a:rPr>
                <a:latin typeface="Courier"/>
              </a:rPr>
              <a:t>TopK(u, k)</a:t>
            </a:r>
          </a:p>
          <a:p>
            <a:pPr lvl="0"/>
            <a:r>
              <a:rPr/>
              <a:t>Output: minimal edit </a:t>
            </a:r>
            <a:r>
              <a:rPr>
                <a:latin typeface="Courier"/>
              </a:rPr>
              <a:t>e</a:t>
            </a:r>
            <a:r>
              <a:rPr/>
              <a:t> that surfaces </a:t>
            </a:r>
            <a:r>
              <a:rPr>
                <a:latin typeface="Courier"/>
              </a:rPr>
              <a:t>t</a:t>
            </a:r>
            <a:r>
              <a:rPr/>
              <a:t> into top-k</a:t>
            </a:r>
          </a:p>
          <a:p>
            <a:pPr lvl="0"/>
            <a:r>
              <a:rPr i="1"/>
              <a:t>“What change would surface this missing movie?”</a:t>
            </a:r>
          </a:p>
          <a:p>
            <a:pPr lvl="0" indent="0" marL="0">
              <a:buNone/>
            </a:pPr>
            <a:r>
              <a:rPr b="1"/>
              <a:t>Generality requirement</a:t>
            </a:r>
            <a:r>
              <a:rPr/>
              <a:t> (per professor): method must work for any user, any movie, any k in [1, 20] — not just hand-picked demos.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Inverted index for pruning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Naive search:</a:t>
            </a:r>
            <a:r>
              <a:rPr/>
              <a:t> consider all raters of m — up to O(|R|) per query.</a:t>
            </a:r>
          </a:p>
          <a:p>
            <a:pPr lvl="0" indent="0" marL="0">
              <a:buNone/>
            </a:pPr>
            <a:r>
              <a:rPr b="1"/>
              <a:t>Our index:</a:t>
            </a:r>
            <a:r>
              <a:rPr/>
              <a:t> precompute, for each movie, the top-C = 50 highest-rating contributors. Search becomes O(C).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a movie’s predicted score is dominated by its strongest raters. If they don’t move the needle, the long tail won’t either.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 build (one-time)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0.16 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 entries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46,435 (~28/movie average, capped at 50)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smaller than raw ratings table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WhyProv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ALGORITHM WhyProv(u, m, k, index I)
 1.  contributors &lt;- I.lookup(m)            # top-C, O(C) lookup
 2.  removed &lt;- {} ;  witness &lt;- []
 3.  FOR each (c, w) in contributors sorted by w DESC:
 4.      removed &lt;- removed + {c}
 5.      witness.append((c, m))
 6.      score_m &lt;- ScoreDecayApprox(u, m, removed)
 7.      threshold &lt;- Predict(u, TopK(u,k)[k-1])
 8.      IF score_m &lt; threshold OR m not in TopK(u, k):
 9.          RETURN witness                  # minimal!
10.  RETURN witness</a:t>
            </a:r>
          </a:p>
          <a:p>
            <a:pPr lvl="0" indent="0" marL="0">
              <a:buNone/>
            </a:pPr>
            <a:r>
              <a:rPr b="1"/>
              <a:t>Score-decay approximation:</a:t>
            </a:r>
            <a:r>
              <a:rPr/>
              <a:t> instead of retraining SVD per query (seconds), scale the base score by removed-weight fraction. Rank-monotonic — sufficient for top-k membership decisions.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1: 1.77× speedup at k=10</a:t>
            </a:r>
          </a:p>
        </p:txBody>
      </p:sp>
      <p:pic>
        <p:nvPicPr>
          <p:cNvPr descr="../results/runtime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4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Runtime: index vs naive across 60 random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Setup:</a:t>
            </a:r>
            <a:r>
              <a:rPr/>
              <a:t> MovieLens 100K · 60 random (user, movie) pairs sampled from each user’s top-20 · k = 10 · seed = 42.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Index-pruned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49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 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1.77×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</a:t>
            </a:r>
            <a:r>
              <a:rPr b="1"/>
              <a:t>none</a:t>
            </a:r>
            <a:r>
              <a:rPr/>
              <a:t> of 60 pairs does naive beat the index. Witness sets are also smaller because the index terminates earlier.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2: speedup grows with k</a:t>
            </a:r>
          </a:p>
        </p:txBody>
      </p:sp>
      <p:pic>
        <p:nvPicPr>
          <p:cNvPr descr="../results/runtime_vs_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4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Runtime vs 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1.50×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1.94×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2.45×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Speedup grows monotonically. Larger k → naive scan does more per-query work → bigger pruning win. </a:t>
            </a:r>
            <a:r>
              <a:rPr b="1"/>
              <a:t>The method is most valuable for deeper top-k lists.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3: speedup vs movie popularity</a:t>
            </a:r>
          </a:p>
        </p:txBody>
      </p:sp>
      <p:pic>
        <p:nvPicPr>
          <p:cNvPr descr="../results/speedup_by_popula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4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Speedup by popularity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speedup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(21–50 raters)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1.38×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Hot (51+ raters)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1.79×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Speedup correlates with movie popularity. Hot movies have a long rater tail to prune — the index pays off most there. Medium movies have fewer raters, so less to prune.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Limitations (acknowledged):</a:t>
            </a:r>
          </a:p>
          <a:p>
            <a:pPr lvl="0"/>
            <a:r>
              <a:rPr b="1"/>
              <a:t>Score-decay approximation</a:t>
            </a:r>
            <a:r>
              <a:rPr/>
              <a:t> is rank-monotonic but not the true counterfactual SVD re-evaluation.</a:t>
            </a:r>
          </a:p>
          <a:p>
            <a:pPr lvl="0"/>
            <a:r>
              <a:rPr b="1"/>
              <a:t>QueryRewrite</a:t>
            </a:r>
            <a:r>
              <a:rPr/>
              <a:t> restricted to single-rating additions only.</a:t>
            </a:r>
          </a:p>
          <a:p>
            <a:pPr lvl="0"/>
            <a:r>
              <a:rPr/>
              <a:t>Top-k sampling is </a:t>
            </a:r>
            <a:r>
              <a:rPr b="1"/>
              <a:t>popularity-biased</a:t>
            </a:r>
            <a:r>
              <a:rPr/>
              <a:t> — no cold movies in our 60 pairs.</a:t>
            </a:r>
          </a:p>
          <a:p>
            <a:pPr lvl="0"/>
            <a:r>
              <a:rPr/>
              <a:t>Single dataset (MovieLens 100K).</a:t>
            </a:r>
          </a:p>
          <a:p>
            <a:pPr lvl="0" indent="0" marL="0">
              <a:buNone/>
            </a:pPr>
            <a:r>
              <a:rPr b="1"/>
              <a:t>Future work:</a:t>
            </a:r>
          </a:p>
          <a:p>
            <a:pPr lvl="0"/>
            <a:r>
              <a:rPr/>
              <a:t>Validate score-decay vs. true counterfactual SVD on a small sample.</a:t>
            </a:r>
          </a:p>
          <a:p>
            <a:pPr lvl="0"/>
            <a:r>
              <a:rPr/>
              <a:t>Multi-hop provenance — explain the explainers themselves.</a:t>
            </a:r>
          </a:p>
          <a:p>
            <a:pPr lvl="0"/>
            <a:r>
              <a:rPr/>
              <a:t>Scale to MovieLens 1M / 25M.</a:t>
            </a:r>
          </a:p>
          <a:p>
            <a:pPr lvl="0"/>
            <a:r>
              <a:rPr/>
              <a:t>Human study: are why-provenance explanations more trusted than attention-based ones?</a:t>
            </a:r>
          </a:p>
          <a:p>
            <a:pPr lvl="0"/>
            <a:r>
              <a:rPr/>
              <a:t>Integrate with sequence models (SASRec, BERT4Rec).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Database provenance, applied.</a:t>
            </a:r>
            <a:r>
              <a:rPr/>
              <a:t> A formal, faithful, fast way to explain CF recommendations.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1.77×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 at k=10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2.45×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 at k=20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0.16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one-time index build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(user, movie) pairs evaluated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changes required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Code &amp; report:</a:t>
            </a:r>
            <a:r>
              <a:rPr/>
              <a:t> github.com/Alfred-Chen-04/csds234-final-project</a:t>
            </a:r>
          </a:p>
          <a:p>
            <a:pPr lvl="0" indent="0" marL="0">
              <a:buNone/>
            </a:pPr>
            <a:r>
              <a:rPr b="1"/>
              <a:t>Thank you.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 Why?</dc:title>
  <dc:creator>Qianyi Chen (Alfred) — Solo — CSDS 234 — Prof. Yinghui Wu — CWRU</dc:creator>
  <cp:keywords/>
  <dcterms:created xsi:type="dcterms:W3CDTF">2026-05-04T21:49:37Z</dcterms:created>
  <dcterms:modified xsi:type="dcterms:W3CDTF">2026-05-04T21:49:37Z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subtitle">
    <vt:lpwstr>Data and Query Provenance for Explainable Movie Recommendations</vt:lpwstr>
  </property>
</Properties>
</file>